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2-2.svg" ContentType="image/svg+xml"/>
  <Override PartName="/ppt/media/image-2-4.svg" ContentType="image/svg+xml"/>
  <Override PartName="/ppt/media/image-4-2.svg" ContentType="image/svg+xml"/>
  <Override PartName="/ppt/media/image-4-4.svg" ContentType="image/svg+xml"/>
  <Override PartName="/ppt/media/image-5-2.svg" ContentType="image/svg+xml"/>
  <Override PartName="/ppt/media/image-5-4.svg" ContentType="image/svg+xml"/>
  <Override PartName="/ppt/media/image-6-2.svg" ContentType="image/svg+xml"/>
  <Override PartName="/ppt/media/image-6-4.svg" ContentType="image/svg+xml"/>
  <Override PartName="/ppt/media/image-7-2.svg" ContentType="image/svg+xml"/>
  <Override PartName="/ppt/media/image-7-4.svg" ContentType="image/svg+xml"/>
  <Override PartName="/ppt/media/image-8-2.svg" ContentType="image/svg+xml"/>
  <Override PartName="/ppt/media/image-8-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hyperlink" Target="https://owasp.org/www-project-mcp-top-10/#:~:text=OWASP%20MCP%20Top%2010" TargetMode="External"/><Relationship Id="rId6" Type="http://schemas.openxmlformats.org/officeDocument/2006/relationships/hyperlink" Target="https://raw.githubusercontent.com/microsoft/mcp-for-beginners/main/02-Security/README.md#:~:text=,Security%20Risks" TargetMode="External"/><Relationship Id="rId7" Type="http://schemas.openxmlformats.org/officeDocument/2006/relationships/hyperlink" Target="https://owasp.org/www-project-mcp-top-10/2025/MCP08-2025%E2%80%93Lack-of-Audit-and-Telemetry#:~:text=1.%20Implement%20Structured%2C%20Tamper,S3%20Object%20Lock%2C%20WORM%20storage" TargetMode="Externa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hyperlink" Target="https://owasp.org/www-project-mcp-top-10/#:~:text=OWASP%20MCP%20Top%2010" TargetMode="External"/><Relationship Id="rId2" Type="http://schemas.openxmlformats.org/officeDocument/2006/relationships/hyperlink" Target="https://raw.githubusercontent.com/microsoft/mcp-for-beginners/main/02-Security/README.md#:~:text=,Security%20Risk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hyperlink" Target="https://owasp.org/www-project-mcp-top-10/2025/MCP01-2025-Token-Mismanagement-and-Secret-Exposure#:~:text=In%20MCP,persist%20within%20model%20context%20memory" TargetMode="External"/><Relationship Id="rId6" Type="http://schemas.openxmlformats.org/officeDocument/2006/relationships/hyperlink" Target="https://owasp.org/www-project-mcp-top-10/2025/MCP02-2025%E2%80%93Privilege-Escalation-via-Scope-Creep#:~:text=Scope%20creep%20occurs%20when%20temporary,holds%20broad%20or%20administrative%20privileges" TargetMode="External"/><Relationship Id="rId7" Type="http://schemas.openxmlformats.org/officeDocument/2006/relationships/hyperlink" Target="https://microsoft.github.io/mcp-azure-security-guide/mcp/mcp01-token-mismanagement/#:~:text=The%20Azure%20Solution%C2%B6" TargetMode="Externa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hyperlink" Target="https://owasp.org/www-project-mcp-top-10/2025/MCP03-2025%E2%80%93Tool-Poisoning#:~:text=Description" TargetMode="External"/><Relationship Id="rId6" Type="http://schemas.openxmlformats.org/officeDocument/2006/relationships/hyperlink" Target="https://christian-schneider.net/blog/securing-mcp-defense-first-architecture/#:~:text=Supply%20chain%20risk%20for%20local,beyond%20the%20server%20code%20itself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hyperlink" Target="https://christian-schneider.net/blog/securing-mcp-defense-first-architecture/#:~:text=" TargetMode="External"/><Relationship Id="rId6" Type="http://schemas.openxmlformats.org/officeDocument/2006/relationships/hyperlink" Target="https://microsoft.github.io/mcp-azure-security-guide/mcp/mcp06-prompt-injection/#:~:text=An%20MCP%20server%20helps%20developers,startup%E2%80%9D%20but%20the%20body%20contains" TargetMode="External"/><Relationship Id="rId7" Type="http://schemas.openxmlformats.org/officeDocument/2006/relationships/hyperlink" Target="https://microsoft.github.io/mcp-azure-security-guide/mcp/mcp06-prompt-injection/#:~:text=The%20Azure%20Solution%C2%B6" TargetMode="Externa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hyperlink" Target="https://christian-schneider.net/blog/securing-mcp-defense-first-architecture/#:~:text=" TargetMode="External"/><Relationship Id="rId6" Type="http://schemas.openxmlformats.org/officeDocument/2006/relationships/hyperlink" Target="https://owasp.org/www-project-mcp-top-10/2025/MCP08-2025%E2%80%93Lack-of-Audit-and-Telemetry#:~:text=Description" TargetMode="External"/><Relationship Id="rId7" Type="http://schemas.openxmlformats.org/officeDocument/2006/relationships/hyperlink" Target="https://owasp.org/www-project-mcp-top-10/2025/MCP08-2025%E2%80%93Lack-of-Audit-and-Telemetry#:~:text=1.%20Implement%20Structured%2C%20Tamper,S3%20Object%20Lock%2C%20WORM%20storage" TargetMode="Externa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hyperlink" Target="https://owasp.org/www-project-mcp-top-10/2025/MCP09-2025%E2%80%93Shadow-MCP-Servers#:~:text=%E2%80%9CShadow%20MCP%20Servers%E2%80%9D%20refer%20to,a%20compliance%20liability%20for%20organizations" TargetMode="External"/><Relationship Id="rId6" Type="http://schemas.openxmlformats.org/officeDocument/2006/relationships/hyperlink" Target="https://owasp.org/www-project-mcp-top-10/2025/MCP09-2025%E2%80%93Shadow-MCP-Servers" TargetMode="External"/><Relationship Id="rId7" Type="http://schemas.openxmlformats.org/officeDocument/2006/relationships/hyperlink" Target="https://owasp.org/www-project-mcp-top-10/#:~:text=MCP10%20,This%20phenomenon%20known%20as%20context" TargetMode="External"/><Relationship Id="rId8" Type="http://schemas.openxmlformats.org/officeDocument/2006/relationships/hyperlink" Target="https://christian-schneider.net/blog/securing-mcp-defense-first-architecture/#:~:text=In%20multi,users%20or%20organizations%20share%20infrastructure" TargetMode="External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hyperlink" Target="https://owasp.org/www-project-mcp-top-10/2025/MCP03-2025%E2%80%93Tool-Poisoning#:~:text=Description" TargetMode="External"/><Relationship Id="rId2" Type="http://schemas.openxmlformats.org/officeDocument/2006/relationships/hyperlink" Target="https://christian-schneider.net/blog/securing-mcp-defense-first-architecture/#:~:text=Supply%20chain%20risk%20for%20local,beyond%20the%20server%20code%20itself" TargetMode="External"/><Relationship Id="rId3" Type="http://schemas.openxmlformats.org/officeDocument/2006/relationships/hyperlink" Target="https://microsoft.github.io/mcp-azure-security-guide/mcp/mcp06-prompt-injection/#:~:text=The%20Azure%20Solution%C2%B6" TargetMode="External"/><Relationship Id="rId4" Type="http://schemas.openxmlformats.org/officeDocument/2006/relationships/hyperlink" Target="https://owasp.org/www-project-mcp-top-10/2025/MCP02-2025%E2%80%93Privilege-Escalation-via-Scope-Creep#:~:text=Scope%20creep%20occurs%20when%20temporary,holds%20broad%20or%20administrative%20privileges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hyperlink" Target="https://raw.githubusercontent.com/microsoft/mcp-for-beginners/main/02-Security/README.md#:~:text=,Security%20Risks" TargetMode="External"/><Relationship Id="rId2" Type="http://schemas.openxmlformats.org/officeDocument/2006/relationships/hyperlink" Target="https://christian-schneider.net/blog/securing-mcp-defense-first-architecture/#:~:text=Supply%20chain%20risk%20for%20local,beyond%20the%20server%20code%20itself" TargetMode="External"/><Relationship Id="rId3" Type="http://schemas.openxmlformats.org/officeDocument/2006/relationships/hyperlink" Target="https://microsoft.github.io/mcp-azure-security-guide/mcp/mcp06-prompt-injection/#:~:text=The%20Azure%20Solution%C2%B6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16667" r="16667" t="0" b="0"/>
          <a:stretch/>
        </p:blipFill>
        <p:spPr>
          <a:xfrm>
            <a:off x="5029200" y="514350"/>
            <a:ext cx="4114800" cy="411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177165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Securing MCP: Mitigating OWASP Top 10 Risks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274320" y="3200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Overview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74320" y="46863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February 16,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5303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0A18"/>
                </a:solidFill>
              </a:rPr>
              <a:t>The Model Context Protocol (MCP) orchestrates tool-enabled AI agents across distributed environments, creating new attack surfaces.
</a:t>
            </a:r>
            <a:pPr indent="0" marL="0">
              <a:buNone/>
            </a:pPr>
            <a:r>
              <a:rPr lang="en-US" sz="1200" dirty="0">
                <a:solidFill>
                  <a:srgbClr val="030A18"/>
                </a:solidFill>
              </a:rPr>
              <a:t>
Top security risks encompass secret leakage, privilege creep, tool and supply chain poisoning, command &amp; prompt injection, authorization lapses, lack of telemetry, shadow servers and context exfiltration.
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30A18"/>
                </a:solidFill>
              </a:rPr>
              <a:t>A defence-in-depth strategy is essential: enforce least privilege, isolate tokens, validate tools, secure the software supply chain, sandbox code execution, harden prompts, adopt modern OAuth flows, and integrate logging and governance.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0" y="1554480"/>
            <a:ext cx="914400" cy="9144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0" y="2743200"/>
            <a:ext cx="731520" cy="7315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7777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30A18"/>
                </a:solidFill>
                <a:hlinkClick r:id="rId5"/>
              </a:rPr>
              <a:t>[1]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600" u="sng" dirty="0">
                <a:solidFill>
                  <a:srgbClr val="030A18"/>
                </a:solidFill>
                <a:hlinkClick r:id="rId6"/>
              </a:rPr>
              <a:t>[2]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600" u="sng" dirty="0">
                <a:solidFill>
                  <a:srgbClr val="030A18"/>
                </a:solidFill>
                <a:hlinkClick r:id="rId7"/>
              </a:rPr>
              <a:t>[3]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MCP Top 10 Overview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52120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30A18"/>
                          </a:solidFill>
                        </a:rPr>
                        <a:t>Risk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30A18"/>
                          </a:solidFill>
                        </a:rPr>
                        <a:t>High-level Mitigation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30A18"/>
                          </a:solidFill>
                        </a:rPr>
                        <a:t>MCP01: Token mismanagement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30A18"/>
                          </a:solidFill>
                        </a:rPr>
                        <a:t>Store secrets in vaults, use short-lived tokens, inspect responses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30A18"/>
                          </a:solidFill>
                        </a:rPr>
                        <a:t>MCP02: Privilege escalation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30A18"/>
                          </a:solidFill>
                        </a:rPr>
                        <a:t>Enforce least privilege, JIT access, automate entitlement reviews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30A18"/>
                          </a:solidFill>
                        </a:rPr>
                        <a:t>MCP03: Tool poisoning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30A18"/>
                          </a:solidFill>
                        </a:rPr>
                        <a:t>Signed schemas, immutable registries, policy-as-code guardrails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30A18"/>
                          </a:solidFill>
                        </a:rPr>
                        <a:t>MCP04: Supply chain attacks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30A18"/>
                          </a:solidFill>
                        </a:rPr>
                        <a:t>Install from reputable sources, verify signatures, generate SBOM/AIBOM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30A18"/>
                          </a:solidFill>
                        </a:rPr>
                        <a:t>MCP05: Command injection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30A18"/>
                          </a:solidFill>
                        </a:rPr>
                        <a:t>Constrain tool endpoints, sandbox code execution, escape URLs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30A18"/>
                          </a:solidFill>
                        </a:rPr>
                        <a:t>MCP06: Prompt injection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30A18"/>
                          </a:solidFill>
                        </a:rPr>
                        <a:t>Prompt shields, segregate system &amp; user prompts, content safety filters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30A18"/>
                          </a:solidFill>
                        </a:rPr>
                        <a:t>MCP07: Confused deputy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30A18"/>
                          </a:solidFill>
                        </a:rPr>
                        <a:t>Per-user tokens &amp; scopes, token exchange (OAuth 2.1)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30A18"/>
                          </a:solidFill>
                        </a:rPr>
                        <a:t>MCP08: Lack of telemetry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30A18"/>
                          </a:solidFill>
                        </a:rPr>
                        <a:t>Tamper-evident logs, SIEM/XDR integration, behavioural baselines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30A18"/>
                          </a:solidFill>
                        </a:rPr>
                        <a:t>MCP09: Shadow MCP servers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30A18"/>
                          </a:solidFill>
                        </a:rPr>
                        <a:t>Central governance, baseline configurations, continuous scanning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30A18"/>
                          </a:solidFill>
                        </a:rPr>
                        <a:t>MCP10: Context over-sharing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30A18"/>
                          </a:solidFill>
                        </a:rPr>
                        <a:t>Isolate contexts, restrict cross-server tool calls, monitor for exfil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7777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30A18"/>
                </a:solidFill>
                <a:hlinkClick r:id="rId1"/>
              </a:rPr>
              <a:t>[4]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600" u="sng" dirty="0">
                <a:solidFill>
                  <a:srgbClr val="030A18"/>
                </a:solidFill>
                <a:hlinkClick r:id="rId2"/>
              </a:rPr>
              <a:t>[5]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MCP01 &amp; MCP02: Tokens &amp; Privileges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2801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18872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0A18"/>
                </a:solidFill>
              </a:rPr>
              <a:t>MCP01: Token Mismanagement
</a:t>
            </a:r>
            <a:pPr indent="0" marL="0">
              <a:buNone/>
            </a:pPr>
            <a:r>
              <a:rPr lang="en-US" sz="800" dirty="0">
                <a:solidFill>
                  <a:srgbClr val="030A18"/>
                </a:solidFill>
              </a:rPr>
              <a:t>Secrets leak when credentials are embedded in prompts or logs; tokens persist across sessions. Attackers scrape prompts and environment variables to exfiltrate secrets.
</a:t>
            </a:r>
            <a:pPr indent="0" marL="0">
              <a:buNone/>
            </a:pPr>
            <a:r>
              <a:rPr lang="en-US" sz="800" b="1" dirty="0">
                <a:solidFill>
                  <a:srgbClr val="030A18"/>
                </a:solidFill>
              </a:rPr>
              <a:t>Mitigation:</a:t>
            </a:r>
            <a:pPr indent="0" marL="0">
              <a:buNone/>
            </a:pPr>
            <a:r>
              <a:rPr lang="en-US" sz="800" dirty="0">
                <a:solidFill>
                  <a:srgbClr val="030A18"/>
                </a:solidFill>
              </a:rPr>
              <a:t> use vaults and managed identities, rotate secrets, issue scoped, short‑lived tokens, and strip sensitive data from model context.</a:t>
            </a:r>
            <a:endParaRPr lang="en-US" sz="1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400" y="1280160"/>
            <a:ext cx="45720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43600" y="118872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0A18"/>
                </a:solidFill>
              </a:rPr>
              <a:t>MCP02: Privilege Escalation
</a:t>
            </a:r>
            <a:pPr indent="0" marL="0">
              <a:buNone/>
            </a:pPr>
            <a:r>
              <a:rPr lang="en-US" sz="800" dirty="0">
                <a:solidFill>
                  <a:srgbClr val="030A18"/>
                </a:solidFill>
              </a:rPr>
              <a:t>Temporary permissions snowball into broad, persistent privileges. Attackers abuse overloaded policies to access code, data and infrastructure.
</a:t>
            </a:r>
            <a:pPr indent="0" marL="0">
              <a:buNone/>
            </a:pPr>
            <a:r>
              <a:rPr lang="en-US" sz="800" b="1" dirty="0">
                <a:solidFill>
                  <a:srgbClr val="030A18"/>
                </a:solidFill>
              </a:rPr>
              <a:t>Mitigation:</a:t>
            </a:r>
            <a:pPr indent="0" marL="0">
              <a:buNone/>
            </a:pPr>
            <a:r>
              <a:rPr lang="en-US" sz="800" dirty="0">
                <a:solidFill>
                  <a:srgbClr val="030A18"/>
                </a:solidFill>
              </a:rPr>
              <a:t> apply least privilege, define policy-as-code, enforce JIT access, separate duties per agent, and automate entitlement reviews.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57200" y="47777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30A18"/>
                </a:solidFill>
                <a:hlinkClick r:id="rId5"/>
              </a:rPr>
              <a:t>[6]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600" u="sng" dirty="0">
                <a:solidFill>
                  <a:srgbClr val="030A18"/>
                </a:solidFill>
                <a:hlinkClick r:id="rId6"/>
              </a:rPr>
              <a:t>[7]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600" u="sng" dirty="0">
                <a:solidFill>
                  <a:srgbClr val="030A18"/>
                </a:solidFill>
                <a:hlinkClick r:id="rId7"/>
              </a:rPr>
              <a:t>[8]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MCP03 &amp; MCP04: Tool Poisoning &amp; Supply Chain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2801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188720"/>
            <a:ext cx="4297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0A18"/>
                </a:solidFill>
              </a:rPr>
              <a:t>MCP03: Tool Poisoning
</a:t>
            </a:r>
            <a:pPr indent="0" marL="0">
              <a:buNone/>
            </a:pPr>
            <a:r>
              <a:rPr lang="en-US" sz="800" dirty="0">
                <a:solidFill>
                  <a:srgbClr val="030A18"/>
                </a:solidFill>
              </a:rPr>
              <a:t>Attackers tamper with tool schemas or registry entries to map benign operations to destructive actions; compromised tools silently override policies.
</a:t>
            </a:r>
            <a:pPr indent="0" marL="0">
              <a:buNone/>
            </a:pPr>
            <a:r>
              <a:rPr lang="en-US" sz="800" b="1" dirty="0">
                <a:solidFill>
                  <a:srgbClr val="030A18"/>
                </a:solidFill>
              </a:rPr>
              <a:t>Mitigation:</a:t>
            </a:r>
            <a:pPr indent="0" marL="0">
              <a:buNone/>
            </a:pPr>
            <a:r>
              <a:rPr lang="en-US" sz="800" dirty="0">
                <a:solidFill>
                  <a:srgbClr val="030A18"/>
                </a:solidFill>
              </a:rPr>
              <a:t> sign and pin schemas, store them in immutable registries, require provenance metadata and enforce runtime policy guardrails.</a:t>
            </a:r>
            <a:endParaRPr lang="en-US" sz="1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400" y="1280160"/>
            <a:ext cx="45720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43600" y="118872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0A18"/>
                </a:solidFill>
              </a:rPr>
              <a:t>MCP04: Supply Chain Attacks
</a:t>
            </a:r>
            <a:pPr indent="0" marL="0">
              <a:buNone/>
            </a:pPr>
            <a:r>
              <a:rPr lang="en-US" sz="800" dirty="0">
                <a:solidFill>
                  <a:srgbClr val="030A18"/>
                </a:solidFill>
              </a:rPr>
              <a:t>Local MCP servers run third‑party code; typosquatting and dependency confusion introduce malicious packages or compromised maintainers.
</a:t>
            </a:r>
            <a:pPr indent="0" marL="0">
              <a:buNone/>
            </a:pPr>
            <a:r>
              <a:rPr lang="en-US" sz="800" b="1" dirty="0">
                <a:solidFill>
                  <a:srgbClr val="030A18"/>
                </a:solidFill>
              </a:rPr>
              <a:t>Mitigation:</a:t>
            </a:r>
            <a:pPr indent="0" marL="0">
              <a:buNone/>
            </a:pPr>
            <a:r>
              <a:rPr lang="en-US" sz="800" dirty="0">
                <a:solidFill>
                  <a:srgbClr val="030A18"/>
                </a:solidFill>
              </a:rPr>
              <a:t> install from trusted sources, verify signatures &amp; hashes, pin versions, generate SBOM/AIBOM and treat updates like production deployments.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57200" y="47777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30A18"/>
                </a:solidFill>
                <a:hlinkClick r:id="rId5"/>
              </a:rPr>
              <a:t>[9]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600" u="sng" dirty="0">
                <a:solidFill>
                  <a:srgbClr val="030A18"/>
                </a:solidFill>
                <a:hlinkClick r:id="rId6"/>
              </a:rPr>
              <a:t>[10]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MCP05 &amp; MCP06: Command &amp; Prompt Injection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2801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188720"/>
            <a:ext cx="4297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0A18"/>
                </a:solidFill>
              </a:rPr>
              <a:t>MCP05: Command &amp; Code Injection
</a:t>
            </a:r>
            <a:pPr indent="0" marL="0">
              <a:buNone/>
            </a:pPr>
            <a:r>
              <a:rPr lang="en-US" sz="800" dirty="0">
                <a:solidFill>
                  <a:srgbClr val="030A18"/>
                </a:solidFill>
              </a:rPr>
              <a:t>Malicious URLs or tool endpoints are crafted to inject commands into model prompts or local shells (e.g., CVE‑2025‑6514).
</a:t>
            </a:r>
            <a:pPr indent="0" marL="0">
              <a:buNone/>
            </a:pPr>
            <a:r>
              <a:rPr lang="en-US" sz="800" b="1" dirty="0">
                <a:solidFill>
                  <a:srgbClr val="030A18"/>
                </a:solidFill>
              </a:rPr>
              <a:t>Mitigation:</a:t>
            </a:r>
            <a:pPr indent="0" marL="0">
              <a:buNone/>
            </a:pPr>
            <a:r>
              <a:rPr lang="en-US" sz="800" dirty="0">
                <a:solidFill>
                  <a:srgbClr val="030A18"/>
                </a:solidFill>
              </a:rPr>
              <a:t> escape user‑supplied data, restrict shell invocation, sandbox tool execution and constrain endpoints.</a:t>
            </a:r>
            <a:endParaRPr lang="en-US" sz="1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400" y="1280160"/>
            <a:ext cx="45720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43600" y="118872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0A18"/>
                </a:solidFill>
              </a:rPr>
              <a:t>MCP06: Prompt Injection
</a:t>
            </a:r>
            <a:pPr indent="0" marL="0">
              <a:buNone/>
            </a:pPr>
            <a:r>
              <a:rPr lang="en-US" sz="800" dirty="0">
                <a:solidFill>
                  <a:srgbClr val="030A18"/>
                </a:solidFill>
              </a:rPr>
              <a:t>Natural‑language payloads hide malicious instructions in documents, issues or user inputs, tricking models into revealing secrets or overriding policies.
</a:t>
            </a:r>
            <a:pPr indent="0" marL="0">
              <a:buNone/>
            </a:pPr>
            <a:r>
              <a:rPr lang="en-US" sz="800" b="1" dirty="0">
                <a:solidFill>
                  <a:srgbClr val="030A18"/>
                </a:solidFill>
              </a:rPr>
              <a:t>Mitigation:</a:t>
            </a:r>
            <a:pPr indent="0" marL="0">
              <a:buNone/>
            </a:pPr>
            <a:r>
              <a:rPr lang="en-US" sz="800" dirty="0">
                <a:solidFill>
                  <a:srgbClr val="030A18"/>
                </a:solidFill>
              </a:rPr>
              <a:t> apply prompt shields, never concatenate untrusted inputs with system prompts, separate system &amp; user context, and use content safety filters.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57200" y="47777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30A18"/>
                </a:solidFill>
                <a:hlinkClick r:id="rId5"/>
              </a:rPr>
              <a:t>[11]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600" u="sng" dirty="0">
                <a:solidFill>
                  <a:srgbClr val="030A18"/>
                </a:solidFill>
                <a:hlinkClick r:id="rId6"/>
              </a:rPr>
              <a:t>[12]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600" u="sng" dirty="0">
                <a:solidFill>
                  <a:srgbClr val="030A18"/>
                </a:solidFill>
                <a:hlinkClick r:id="rId7"/>
              </a:rPr>
              <a:t>[13]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MCP07 &amp; MCP08: Confused Deputy &amp; Telemetry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2801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188720"/>
            <a:ext cx="4297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0A18"/>
                </a:solidFill>
              </a:rPr>
              <a:t>MCP07: Confused Deputy
</a:t>
            </a:r>
            <a:pPr indent="0" marL="0">
              <a:buNone/>
            </a:pPr>
            <a:r>
              <a:rPr lang="en-US" sz="800" dirty="0">
                <a:solidFill>
                  <a:srgbClr val="030A18"/>
                </a:solidFill>
              </a:rPr>
              <a:t>Proxies use a single OAuth client for all users; attackers impersonate others via token reuse or overly broad scopes.
</a:t>
            </a:r>
            <a:pPr indent="0" marL="0">
              <a:buNone/>
            </a:pPr>
            <a:r>
              <a:rPr lang="en-US" sz="800" b="1" dirty="0">
                <a:solidFill>
                  <a:srgbClr val="030A18"/>
                </a:solidFill>
              </a:rPr>
              <a:t>Mitigation:</a:t>
            </a:r>
            <a:pPr indent="0" marL="0">
              <a:buNone/>
            </a:pPr>
            <a:r>
              <a:rPr lang="en-US" sz="800" dirty="0">
                <a:solidFill>
                  <a:srgbClr val="030A18"/>
                </a:solidFill>
              </a:rPr>
              <a:t> issue per-user tokens with fine‑grained scopes, adopt OAuth 2.1 with PKCE &amp; token exchange, and maintain consent registries.</a:t>
            </a:r>
            <a:endParaRPr lang="en-US" sz="1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400" y="1280160"/>
            <a:ext cx="45720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43600" y="118872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0A18"/>
                </a:solidFill>
              </a:rPr>
              <a:t>MCP08: Lack of Audit &amp; Telemetry
</a:t>
            </a:r>
            <a:pPr indent="0" marL="0">
              <a:buNone/>
            </a:pPr>
            <a:r>
              <a:rPr lang="en-US" sz="800" dirty="0">
                <a:solidFill>
                  <a:srgbClr val="030A18"/>
                </a:solidFill>
              </a:rPr>
              <a:t>Without logs and telemetry, anomalies, violations and breaches go undetected, hindering incident response and compliance.
</a:t>
            </a:r>
            <a:pPr indent="0" marL="0">
              <a:buNone/>
            </a:pPr>
            <a:r>
              <a:rPr lang="en-US" sz="800" b="1" dirty="0">
                <a:solidFill>
                  <a:srgbClr val="030A18"/>
                </a:solidFill>
              </a:rPr>
              <a:t>Mitigation:</a:t>
            </a:r>
            <a:pPr indent="0" marL="0">
              <a:buNone/>
            </a:pPr>
            <a:r>
              <a:rPr lang="en-US" sz="800" dirty="0">
                <a:solidFill>
                  <a:srgbClr val="030A18"/>
                </a:solidFill>
              </a:rPr>
              <a:t> implement tamper‑evident logging, integrate with SIEM/XDR, baseline normal behaviours, protect sensitive data in logs and enforce retention policies.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57200" y="47777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30A18"/>
                </a:solidFill>
                <a:hlinkClick r:id="rId5"/>
              </a:rPr>
              <a:t>[14]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600" u="sng" dirty="0">
                <a:solidFill>
                  <a:srgbClr val="030A18"/>
                </a:solidFill>
                <a:hlinkClick r:id="rId6"/>
              </a:rPr>
              <a:t>[15]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600" u="sng" dirty="0">
                <a:solidFill>
                  <a:srgbClr val="030A18"/>
                </a:solidFill>
                <a:hlinkClick r:id="rId7"/>
              </a:rPr>
              <a:t>[16]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MCP09 &amp; MCP10: Shadow Servers &amp; Context Exfiltration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2801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188720"/>
            <a:ext cx="4297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0A18"/>
                </a:solidFill>
              </a:rPr>
              <a:t>MCP09: Shadow MCP Servers
</a:t>
            </a:r>
            <a:pPr indent="0" marL="0">
              <a:buNone/>
            </a:pPr>
            <a:r>
              <a:rPr lang="en-US" sz="800" dirty="0">
                <a:solidFill>
                  <a:srgbClr val="030A18"/>
                </a:solidFill>
              </a:rPr>
              <a:t>Unsanctioned servers run default credentials and permissive settings, exposing data and expanding attack surfaces.
</a:t>
            </a:r>
            <a:pPr indent="0" marL="0">
              <a:buNone/>
            </a:pPr>
            <a:r>
              <a:rPr lang="en-US" sz="800" b="1" dirty="0">
                <a:solidFill>
                  <a:srgbClr val="030A18"/>
                </a:solidFill>
              </a:rPr>
              <a:t>Mitigation:</a:t>
            </a:r>
            <a:pPr indent="0" marL="0">
              <a:buNone/>
            </a:pPr>
            <a:r>
              <a:rPr lang="en-US" sz="800" dirty="0">
                <a:solidFill>
                  <a:srgbClr val="030A18"/>
                </a:solidFill>
              </a:rPr>
              <a:t> establish central governance, baseline configuration templates, continuous discovery &amp; scanning, enforce IAM and integrate with detection/response.</a:t>
            </a:r>
            <a:endParaRPr lang="en-US" sz="1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400" y="1280160"/>
            <a:ext cx="45720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43600" y="118872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0A18"/>
                </a:solidFill>
              </a:rPr>
              <a:t>MCP10: Context Injection &amp; Over‑Sharing
</a:t>
            </a:r>
            <a:pPr indent="0" marL="0">
              <a:buNone/>
            </a:pPr>
            <a:r>
              <a:rPr lang="en-US" sz="800" dirty="0">
                <a:solidFill>
                  <a:srgbClr val="030A18"/>
                </a:solidFill>
              </a:rPr>
              <a:t>Malicious servers or tools embed hidden context into prompts or instruct models to exfiltrate sensitive data across server boundaries.
</a:t>
            </a:r>
            <a:pPr indent="0" marL="0">
              <a:buNone/>
            </a:pPr>
            <a:r>
              <a:rPr lang="en-US" sz="800" b="1" dirty="0">
                <a:solidFill>
                  <a:srgbClr val="030A18"/>
                </a:solidFill>
              </a:rPr>
              <a:t>Mitigation:</a:t>
            </a:r>
            <a:pPr indent="0" marL="0">
              <a:buNone/>
            </a:pPr>
            <a:r>
              <a:rPr lang="en-US" sz="800" dirty="0">
                <a:solidFill>
                  <a:srgbClr val="030A18"/>
                </a:solidFill>
              </a:rPr>
              <a:t> isolate contexts per request, restrict cross‑server tool calls, monitor for anomalous data flows, and clamp down on over‑broad data access.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57200" y="47777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30A18"/>
                </a:solidFill>
                <a:hlinkClick r:id="rId5"/>
              </a:rPr>
              <a:t>[17]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600" u="sng" dirty="0">
                <a:solidFill>
                  <a:srgbClr val="030A18"/>
                </a:solidFill>
                <a:hlinkClick r:id="rId6"/>
              </a:rPr>
              <a:t>[18]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600" u="sng" dirty="0">
                <a:solidFill>
                  <a:srgbClr val="030A18"/>
                </a:solidFill>
                <a:hlinkClick r:id="rId7"/>
              </a:rPr>
              <a:t>[19]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600" u="sng" dirty="0">
                <a:solidFill>
                  <a:srgbClr val="030A18"/>
                </a:solidFill>
                <a:hlinkClick r:id="rId8"/>
              </a:rPr>
              <a:t>[20]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Defence‑in‑Depth Architecture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0" y="1280160"/>
            <a:ext cx="7315200" cy="411480"/>
          </a:xfrm>
          <a:prstGeom prst="roundRect">
            <a:avLst>
              <a:gd name="adj" fmla="val 11111"/>
            </a:avLst>
          </a:prstGeom>
          <a:solidFill>
            <a:srgbClr val="E8F1FA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38988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30A18"/>
                </a:solidFill>
              </a:rPr>
              <a:t>Secrets &amp; Token Hygiene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14400" y="1737360"/>
            <a:ext cx="7315200" cy="411480"/>
          </a:xfrm>
          <a:prstGeom prst="roundRect">
            <a:avLst>
              <a:gd name="adj" fmla="val 11111"/>
            </a:avLst>
          </a:prstGeom>
          <a:solidFill>
            <a:srgbClr val="D9E7F6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97280" y="184708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30A18"/>
                </a:solidFill>
              </a:rPr>
              <a:t>Least Privilege &amp; JIT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914400" y="2194560"/>
            <a:ext cx="7315200" cy="411480"/>
          </a:xfrm>
          <a:prstGeom prst="roundRect">
            <a:avLst>
              <a:gd name="adj" fmla="val 11111"/>
            </a:avLst>
          </a:prstGeom>
          <a:solidFill>
            <a:srgbClr val="C8DAF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97280" y="230428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30A18"/>
                </a:solidFill>
              </a:rPr>
              <a:t>Tool Integrity &amp; Supply Chain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914400" y="2651760"/>
            <a:ext cx="7315200" cy="411480"/>
          </a:xfrm>
          <a:prstGeom prst="roundRect">
            <a:avLst>
              <a:gd name="adj" fmla="val 11111"/>
            </a:avLst>
          </a:prstGeom>
          <a:solidFill>
            <a:srgbClr val="B7CEE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97280" y="276148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30A18"/>
                </a:solidFill>
              </a:rPr>
              <a:t>Sandboxing &amp; Isolation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914400" y="3108960"/>
            <a:ext cx="7315200" cy="411480"/>
          </a:xfrm>
          <a:prstGeom prst="roundRect">
            <a:avLst>
              <a:gd name="adj" fmla="val 11111"/>
            </a:avLst>
          </a:prstGeom>
          <a:solidFill>
            <a:srgbClr val="A5C1EA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97280" y="321868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30A18"/>
                </a:solidFill>
              </a:rPr>
              <a:t>Prompt &amp; Command Shielding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914400" y="3566160"/>
            <a:ext cx="7315200" cy="411480"/>
          </a:xfrm>
          <a:prstGeom prst="roundRect">
            <a:avLst>
              <a:gd name="adj" fmla="val 11111"/>
            </a:avLst>
          </a:prstGeom>
          <a:solidFill>
            <a:srgbClr val="94B5E6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97280" y="367588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30A18"/>
                </a:solidFill>
              </a:rPr>
              <a:t>Auth &amp; Token Exchange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914400" y="4023360"/>
            <a:ext cx="7315200" cy="411480"/>
          </a:xfrm>
          <a:prstGeom prst="roundRect">
            <a:avLst>
              <a:gd name="adj" fmla="val 11111"/>
            </a:avLst>
          </a:prstGeom>
          <a:solidFill>
            <a:srgbClr val="83A8E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097280" y="413308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30A18"/>
                </a:solidFill>
              </a:rPr>
              <a:t>Telemetry &amp; Governance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47777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30A18"/>
                </a:solidFill>
                <a:hlinkClick r:id="rId1"/>
              </a:rPr>
              <a:t>[21]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600" u="sng" dirty="0">
                <a:solidFill>
                  <a:srgbClr val="030A18"/>
                </a:solidFill>
                <a:hlinkClick r:id="rId2"/>
              </a:rPr>
              <a:t>[22]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600" u="sng" dirty="0">
                <a:solidFill>
                  <a:srgbClr val="030A18"/>
                </a:solidFill>
                <a:hlinkClick r:id="rId3"/>
              </a:rPr>
              <a:t>[23]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600" u="sng" dirty="0">
                <a:solidFill>
                  <a:srgbClr val="030A18"/>
                </a:solidFill>
                <a:hlinkClick r:id="rId4"/>
              </a:rPr>
              <a:t>[24]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&amp; Next Steps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0A18"/>
                </a:solidFill>
              </a:rPr>
              <a:t>1. Perform a baseline assessment of all MCP deployments to identify token exposures, tool registries and shadow servers.
</a:t>
            </a:r>
            <a:pPr indent="0" marL="0">
              <a:buNone/>
            </a:pPr>
            <a:r>
              <a:rPr lang="en-US" sz="800" dirty="0">
                <a:solidFill>
                  <a:srgbClr val="030A18"/>
                </a:solidFill>
              </a:rPr>
              <a:t>2. Enforce central governance: define MCP security policies, register authorized servers, and require signed tools.
</a:t>
            </a:r>
            <a:pPr indent="0" marL="0">
              <a:buNone/>
            </a:pPr>
            <a:r>
              <a:rPr lang="en-US" sz="800" dirty="0">
                <a:solidFill>
                  <a:srgbClr val="030A18"/>
                </a:solidFill>
              </a:rPr>
              <a:t>3. Integrate secrets management and OAuth 2.1 with PKCE: migrate credentials to vaults, adopt per-user tokens &amp; scopes.
</a:t>
            </a:r>
            <a:pPr indent="0" marL="0">
              <a:buNone/>
            </a:pPr>
            <a:r>
              <a:rPr lang="en-US" sz="800" dirty="0">
                <a:solidFill>
                  <a:srgbClr val="030A18"/>
                </a:solidFill>
              </a:rPr>
              <a:t>4. Implement supply chain security: verify packages, generate SBOM/AIBOM, run code scanners and treat updates carefully.
</a:t>
            </a:r>
            <a:pPr indent="0" marL="0">
              <a:buNone/>
            </a:pPr>
            <a:r>
              <a:rPr lang="en-US" sz="800" dirty="0">
                <a:solidFill>
                  <a:srgbClr val="030A18"/>
                </a:solidFill>
              </a:rPr>
              <a:t>5. Harden prompts and tool interfaces: deploy prompt shields, sandbox code execution and escape user data.
</a:t>
            </a:r>
            <a:pPr indent="0" marL="0">
              <a:buNone/>
            </a:pPr>
            <a:r>
              <a:rPr lang="en-US" sz="800" dirty="0">
                <a:solidFill>
                  <a:srgbClr val="030A18"/>
                </a:solidFill>
              </a:rPr>
              <a:t>6. Establish monitoring &amp; incident response: integrate MCP logs into SIEM/XDR, baseline normal behaviours and retain logs securely.
</a:t>
            </a:r>
            <a:pPr indent="0" marL="0">
              <a:buNone/>
            </a:pPr>
            <a:r>
              <a:rPr lang="en-US" sz="800" dirty="0">
                <a:solidFill>
                  <a:srgbClr val="030A18"/>
                </a:solidFill>
              </a:rPr>
              <a:t>7. Educate teams &amp; iterate: train developers and operators on OWASP MCP Top 10, test for these risks and continuously improve.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7777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030A18"/>
                </a:solidFill>
                <a:hlinkClick r:id="rId1"/>
              </a:rPr>
              <a:t>[25]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600" u="sng" dirty="0">
                <a:solidFill>
                  <a:srgbClr val="030A18"/>
                </a:solidFill>
                <a:hlinkClick r:id="rId2"/>
              </a:rPr>
              <a:t>[26]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600" u="sng" dirty="0">
                <a:solidFill>
                  <a:srgbClr val="030A18"/>
                </a:solidFill>
                <a:hlinkClick r:id="rId3"/>
              </a:rPr>
              <a:t>[27]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2026-02-16T17:11:51Z</dcterms:created>
  <dcterms:modified xsi:type="dcterms:W3CDTF">2026-02-16T17:11:51Z</dcterms:modified>
</cp:coreProperties>
</file>